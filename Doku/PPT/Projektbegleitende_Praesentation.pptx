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2340000"/>
            <a:ext cx="10393200" cy="21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</a:rPr>
              <a:t>Projektbegleitende Präsentation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A8C8E8"/>
                </a:solidFill>
              </a:rPr>
              <a:t>Qualitäts-Muster-Finder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FFFFFF"/>
                </a:solidFill>
              </a:rPr>
              <a:t>„Welche Krankenhausmerkmale hängen damit zusammen, dass ein Haus überdurchschnittlich viele Qualitätsprobleme aufweist?“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6066000"/>
            <a:ext cx="103932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A8C8E8"/>
                </a:solidFill>
              </a:rPr>
              <a:t>Stand: 28.08.2026  ·  Kapitel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Kapitelübersicht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Projektbegleitende Präsentation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224000"/>
          <a:ext cx="10980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560000"/>
                <a:gridCol w="2700000"/>
              </a:tblGrid>
              <a:tr h="54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Kap.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Inhalt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Aufgabenstellung und Ausgangsdaten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✅ in dieser Präsentation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Datenaufbereitung (Baustein 1)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✅ in dieser Präsentation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Deskriptive Analyse (Baustein 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✅ in dieser Präsentation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Machine-Learning-Modell (Baustein 4)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✅ in dieser Präsentation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Dashboard (Baustein 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✅ in dieser Präsentation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Fazit, Grenzen und Ausblick (Baustein 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✅ in dieser Präsentation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1.1   Projektrahmen &amp; Fragestellung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1 — Aufgabenstellung und Ausgangsdaten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152000"/>
            <a:ext cx="11329200" cy="108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/>
          <a:lstStyle/>
          <a:p>
            <a:pPr algn="ctr"/>
            <a:r>
              <a:rPr sz="2000" b="1" i="1">
                <a:solidFill>
                  <a:srgbClr val="1F497D"/>
                </a:solidFill>
              </a:rPr>
              <a:t>„Welche Krankenhausmerkmale hängen damit zusammen, dass ein Haus überdurchschnittlich viele Qualitätsprobleme hat?“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2376000"/>
            <a:ext cx="113292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F497D"/>
                </a:solidFill>
              </a:rPr>
              <a:t>Leitprinzipien aus dem Kick-off — fünf Wochen, ein Team zu dritt, echte Daten aus dem Gesundheitswesen: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664000"/>
            <a:ext cx="5592600" cy="576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1600" b="1">
                <a:solidFill>
                  <a:srgbClr val="1F497D"/>
                </a:solidFill>
              </a:rPr>
              <a:t>„Kein Zusammenhang ist ein valides Ergebnis.“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8600" y="2664000"/>
            <a:ext cx="5592600" cy="576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BF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1600" b="1">
                <a:solidFill>
                  <a:srgbClr val="BF5A00"/>
                </a:solidFill>
              </a:rPr>
              <a:t>„Auffällig heißt nicht gleich schlecht.“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348000"/>
            <a:ext cx="5592600" cy="576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375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1600" b="1">
                <a:solidFill>
                  <a:srgbClr val="375E23"/>
                </a:solidFill>
              </a:rPr>
              <a:t>„Echte Daten sind unordentlich“ — Aufräumen ist die eigentliche Arbeit.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8600" y="3348000"/>
            <a:ext cx="5592600" cy="576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 w="12700">
            <a:solidFill>
              <a:srgbClr val="A5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/>
            <a:r>
              <a:rPr sz="1600" b="1">
                <a:solidFill>
                  <a:srgbClr val="A52A2A"/>
                </a:solidFill>
              </a:rPr>
              <a:t>Nachvollziehbare, begründete Entscheidungen zählen mehr als Effekthascherei.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4176000"/>
            <a:ext cx="113292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12529"/>
                </a:solidFill>
              </a:rPr>
              <a:t>•  Jedes deutsche Krankenhaus veröffentlicht jährlich einen Qualitätsbericht mit rund 150 Qualitätsindikatoren pro Haus — z. B. Wartezeit vor Hüftoperationen, Funktionsprüfung bei Herzschrittmacher-Implantation oder Kaiserschnittrate in der Geburtshilfe.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12529"/>
                </a:solidFill>
              </a:rPr>
              <a:t>•  Liegt ein Wert außerhalb des Referenzbereichs, gilt er als „rechnerisch auffällig“ — ein Signal, kein Urteil. Ob wirklich ein Qualitätsproblem vorliegt, klärt danach der Strukturierte Dialog.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1.4   Herkunft und Umfang der Ausgangsdaten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0" i="0">
                <a:solidFill>
                  <a:srgbClr val="212529"/>
                </a:solidFill>
              </a:rPr>
              <a:t>Offizielle Qualitätsberichte 2023 · herausgegeben vom IQTIG im Auftrag des G-BA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2529"/>
                </a:solidFill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1 — Aufgabenstellung und Ausgangsdaten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232000"/>
            <a:ext cx="3657600" cy="1512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497D"/>
                </a:solidFill>
              </a:rPr>
              <a:t>86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CSV-Dateien
(Data/CSV)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9600" y="2232000"/>
            <a:ext cx="3657600" cy="1512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BF5A00"/>
                </a:solidFill>
              </a:rPr>
              <a:t>1,17 GB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Gesamtumfang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200" y="2232000"/>
            <a:ext cx="3657600" cy="1512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A5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A52A2A"/>
                </a:solidFill>
              </a:rPr>
              <a:t>911,7 MB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größte Datei:
QS.Qualitätsindikator.csv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4031999"/>
            <a:ext cx="113292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A-Teil (Allgemeiner Teil) → Strukturdaten eines Hauses → unsere Merkmale (X)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C-Teil (Qualitätssicherungsteil) → Qualitätsindikatoren, Bewertungen → unsere Ziel-Variable (y)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SO.QBID: eindeutige Standort-ID, verbindet ca. 60 der 86 Tabellen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1.4   Wie viele Krankenhäuser stehen dahinter?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1 — Aufgabenstellung und Ausgangsdaten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224000"/>
          <a:ext cx="10980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/>
                <a:gridCol w="1620000"/>
                <a:gridCol w="5400000"/>
              </a:tblGrid>
              <a:tr h="585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Zählbasis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Anzahl Häuser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Bedeutung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SO.csv (Stammdaten)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2.310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Alle Standorte mit Qualitätsbericht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QS.Qualitätsindikator.csv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1.824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Standorte mit mind. einer QI-Bewertung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Data/analysetabelle.csv (Ergebnis)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1.821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Standorte mit mind. einer bewertbaren Zeile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3960000"/>
            <a:ext cx="113292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12529"/>
                </a:solidFill>
              </a:rPr>
              <a:t>•  2.310 → 1.824: 486 Standorte ohne Zeile in QS.Qualitätsindikator.csv fallen beim Zusammenführen automatisch heraus.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12529"/>
                </a:solidFill>
              </a:rPr>
              <a:t>•  1.824 → 1.821: 3 Häuser haben keine einzige bewertbare Indikator-Zeile mehr (siehe Kapitel 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1.5   Klassifikation der Ausgangsdaten &amp; Datenschutz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212529"/>
                </a:solidFill>
              </a:rPr>
              <a:t>Jede der 86 Dateien wurde gesichtet und eingeordnet: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1 — Aufgabenstellung und Ausgangsdaten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44000"/>
            <a:ext cx="3657600" cy="144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375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375E23"/>
                </a:solidFill>
              </a:rPr>
              <a:t>7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✅ aktiv verwendet
→ Analysetabelle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9600" y="1944000"/>
            <a:ext cx="3657600" cy="144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BF5A00"/>
                </a:solidFill>
              </a:rPr>
              <a:t>33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⚠️ möglicherweise relevant
→ noch nicht eingebunden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200" y="1944000"/>
            <a:ext cx="3657600" cy="144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A5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A52A2A"/>
                </a:solidFill>
              </a:rPr>
              <a:t>46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❌ nicht relevant
→ Lookup, Verwaltung, DSGVO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491999"/>
            <a:ext cx="113292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55555"/>
                </a:solidFill>
              </a:rPr>
              <a:t>Verwendet: SO.csv, QS.Qualitätsindikator.csv, QS.Fortbildung.csv, FA.csv, FA.Personalliste.csv, SO.Personalliste.csv, Konzern.csv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031999"/>
            <a:ext cx="11329200" cy="22320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5875">
            <a:solidFill>
              <a:srgbClr val="A5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180000"/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A52A2A"/>
                </a:solidFill>
              </a:rPr>
              <a:t>🔒  Datenschutz: 2 der 46 „nicht relevanten“ Dateien enthalten personenbezogene Daten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212529"/>
                </a:solidFill>
              </a:rPr>
              <a:t>•  Personen.csv — Kontaktpersonen der Krankenhäuser (Name, E-Mail, Telefon, Funktion)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12529"/>
                </a:solidFill>
              </a:rPr>
              <a:t>•  FA.Personen.csv — ärztliche Leitungen der Fachabteilungen (Name, E-Mail, Telefon)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555555"/>
                </a:solidFill>
              </a:rPr>
              <a:t>•  Beide bewusst ausgeschlossen — der gesamte Ordner Data/ ist zusätzlich per .gitignore von der Versionierung ausgeschlossen, die Rohdaten gelangen nicht ins Code-Repository.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2.1   Vorgehen und Aufbau des Notebooks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2 — Exploration und Datenaufbereitung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116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555555"/>
                </a:solidFill>
              </a:rPr>
              <a:t>Zwei komplementäre Analyseschritte, bevor auch nur eine einzige Datenzeile gelesen wird: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75999"/>
            <a:ext cx="5580000" cy="190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1999" rIns="251999" tIns="180000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1F497D"/>
                </a:solidFill>
              </a:rPr>
              <a:t>①  Häufigkeitsanalyse — wie verknüpfen wir?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Nur Header aller 86 Dateien geladen (nrows=0) — sogar die 911 MB große QS.Qualitätsindikator.csv in Millisekunden.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Ergebnis: SO.QBID ist der universelle Schlüssel, kommt in rund 60 der 86 Dateien vor.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1475999"/>
            <a:ext cx="5580000" cy="190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5875">
            <a:solidFill>
              <a:srgbClr val="BF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1999" rIns="251999" tIns="180000"/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BF5A00"/>
                </a:solidFill>
              </a:rPr>
              <a:t>②  Präfix-Analyse — was gehört thematisch zusammen?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Alle Spalten folgen dem Muster PRÄFIX.Beschreibung.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SO → Standort · FA → Fachabteilung · QS → Qualitätssicherung — ohne eine einzige Datenzeile zu lesen.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3564000"/>
            <a:ext cx="11329200" cy="1655999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 w="15875">
            <a:solidFill>
              <a:srgbClr val="A5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rIns="288000" tIns="180000"/>
          <a:lstStyle/>
          <a:p>
            <a:pPr algn="ctr">
              <a:spcAft>
                <a:spcPts val="800"/>
              </a:spcAft>
            </a:pPr>
            <a:r>
              <a:rPr sz="1900" b="1">
                <a:solidFill>
                  <a:srgbClr val="A52A2A"/>
                </a:solidFill>
              </a:rPr>
              <a:t>🔍  Der Aha-Moment: QS.csv war überflüssig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QS.csv galt lange als notwendige „Brückentabelle“ zwischen Strukturdaten und Qualitätsindikatoren. Die Häufigkeitsanalyse zeigte aber: QS.ID kommt nur in QS.csv und QS.Nachweis.csv vor — nicht in QS.Qualitätsindikator.csv.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QS.Qualitätsindikator.csv trägt SO.QBID bereits direkt selbst — ein Join über QS.csv ist für die Zusammenführung schlicht nicht nötig. Im fertigen Notebook wird QS.csv deshalb nirgends geladen.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5364000"/>
            <a:ext cx="113292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555555"/>
                </a:solidFill>
              </a:rPr>
              <a:t>•  Zusätzliche bewusste Entscheidung: Das Notebook baut zuerst die Ziel-Variable y, dann erst die Merkmale X — umgekehrt zur Reihenfolge in der Aufgabenstellung.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2.2   Die Bewertungsspalte QSErgBewStrukDialog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2 — Exploration und Datenaufbereitung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116000"/>
            <a:ext cx="113292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555555"/>
                </a:solidFill>
              </a:rPr>
              <a:t>7 Bewertungskategorien, aber nur 3 Konsequenzen für die Ziel-Variable: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75999"/>
            <a:ext cx="3657600" cy="34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375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/>
          <a:lstStyle/>
          <a:p>
            <a:pPr algn="ctr">
              <a:spcAft>
                <a:spcPts val="1200"/>
              </a:spcAft>
            </a:pPr>
            <a:r>
              <a:rPr sz="1900" b="1">
                <a:solidFill>
                  <a:srgbClr val="375E23"/>
                </a:solidFill>
              </a:rPr>
              <a:t>✅  NICHT auffällig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12529"/>
                </a:solidFill>
              </a:rPr>
              <a:t>R10</a:t>
            </a:r>
          </a:p>
          <a:p>
            <a:pPr algn="ctr">
              <a:spcBef>
                <a:spcPts val="800"/>
              </a:spcBef>
            </a:pPr>
            <a:r>
              <a:rPr sz="1450" i="1">
                <a:solidFill>
                  <a:srgbClr val="555555"/>
                </a:solidFill>
              </a:rPr>
              <a:t>Ergebnis liegt im Referenzbereich.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9600" y="1475999"/>
            <a:ext cx="3657600" cy="34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/>
          <a:lstStyle/>
          <a:p>
            <a:pPr algn="ctr">
              <a:spcAft>
                <a:spcPts val="1200"/>
              </a:spcAft>
            </a:pPr>
            <a:r>
              <a:rPr sz="1900" b="1">
                <a:solidFill>
                  <a:srgbClr val="555555"/>
                </a:solidFill>
              </a:rPr>
              <a:t>➖  Nicht bewertbar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12529"/>
                </a:solidFill>
              </a:rPr>
              <a:t>N01 · N02 · N99</a:t>
            </a:r>
          </a:p>
          <a:p>
            <a:pPr algn="ctr">
              <a:spcBef>
                <a:spcPts val="800"/>
              </a:spcBef>
            </a:pPr>
            <a:r>
              <a:rPr sz="1450" i="1">
                <a:solidFill>
                  <a:srgbClr val="555555"/>
                </a:solidFill>
              </a:rPr>
              <a:t>Bewertung nicht vorgesehen — komplett ausgeschlossen, zählt weder als auffällig noch als unauffällig.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200" y="1475999"/>
            <a:ext cx="3657600" cy="34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9050">
            <a:solidFill>
              <a:srgbClr val="A5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 tIns="180000"/>
          <a:lstStyle/>
          <a:p>
            <a:pPr algn="ctr">
              <a:spcAft>
                <a:spcPts val="1200"/>
              </a:spcAft>
            </a:pPr>
            <a:r>
              <a:rPr sz="1900" b="1">
                <a:solidFill>
                  <a:srgbClr val="A52A2A"/>
                </a:solidFill>
              </a:rPr>
              <a:t>🔴  AUFFÄLLIG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12529"/>
                </a:solidFill>
              </a:rPr>
              <a:t>H20 · H99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12529"/>
                </a:solidFill>
              </a:rPr>
              <a:t>U30–33 · U99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12529"/>
                </a:solidFill>
              </a:rPr>
              <a:t>A40–42 · A99</a:t>
            </a:r>
          </a:p>
          <a:p>
            <a:pPr algn="ctr">
              <a:spcAft>
                <a:spcPts val="600"/>
              </a:spcAft>
            </a:pPr>
            <a:r>
              <a:rPr sz="1700" b="1">
                <a:solidFill>
                  <a:srgbClr val="212529"/>
                </a:solidFill>
              </a:rPr>
              <a:t>D50/51/99 · S90/91/99</a:t>
            </a:r>
          </a:p>
          <a:p>
            <a:pPr algn="ctr">
              <a:spcBef>
                <a:spcPts val="800"/>
              </a:spcBef>
            </a:pPr>
            <a:r>
              <a:rPr sz="1450" i="1">
                <a:solidFill>
                  <a:srgbClr val="555555"/>
                </a:solidFill>
              </a:rPr>
              <a:t>Jeder Code außer R10 und N* zählt als auffällig — bestätigt durch eine Summenprobe: H+U+A+D+S ergibt exakt die im IQTIG-Bericht gemeldete Zahl „Rechnerisch auffällige Ergebnisse gesamt“.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5112000"/>
            <a:ext cx="11329200" cy="1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55555"/>
                </a:solidFill>
              </a:rPr>
              <a:t>•  Belegt durch den offiziellen IQTIG-Bericht „Bericht zum Strukturierten Dialog 2021, Erfassungsjahr 2020“, u. a. per Summenprobe gegen die dort veröffentlichten Zahlen nachvollzogen.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2.2   Berechnung der Ziel-Variable — Filterkaskade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2 — Exploration und Datenaufbereitung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224000"/>
            <a:ext cx="11329200" cy="54000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Ausgangsdatensatz   ·   417.799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836000"/>
            <a:ext cx="11329200" cy="19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A52A2A"/>
                </a:solidFill>
              </a:rPr>
              <a:t>↓  −109.073 entfernt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9939" y="2070000"/>
            <a:ext cx="9593321" cy="54000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1. Zählkennzahlen entfernt   ·   308.726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682000"/>
            <a:ext cx="11329200" cy="19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A52A2A"/>
                </a:solidFill>
              </a:rPr>
              <a:t>↓  −109.956 entfernt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4905" y="2916000"/>
            <a:ext cx="7843390" cy="54000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2. Alle N*-Codes entfernt   ·   198.770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3528000"/>
            <a:ext cx="11329200" cy="19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A52A2A"/>
                </a:solidFill>
              </a:rPr>
              <a:t>↓  −121.233 entfernt (61 %)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39606" y="3762000"/>
            <a:ext cx="5913988" cy="54000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3. Duplikate entfernt   ·   77.537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4482000"/>
            <a:ext cx="3657600" cy="108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375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375E23"/>
                </a:solidFill>
              </a:rPr>
              <a:t>42,6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Ø Indikatoren pro Haus
(77.537 ÷ 1.821)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9600" y="4482000"/>
            <a:ext cx="7491600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61 % der Zeilen nach Schritt 2 waren Duplikate — ein Beleg, wie wichtig die korrekte Deduplizierung war (Schlüssel: SO.QBID + QSQI.Indikator, nicht QSQI.AEKey, das pro Haus statt pro Indikator vergeben ist).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2.2   Ergebnis der Ziel-Variable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2 — Exploration und Datenaufbereitung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11329200" cy="4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555555"/>
                </a:solidFill>
              </a:rPr>
              <a:t>5,88 % — Median der auffaellig_quote, Schwellenwert für hat_viele_Probleme. Der Median teilt die 1.821 Häuser dabei fast exakt in der Mitte: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90817" y="1655999"/>
            <a:ext cx="288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F497D"/>
                </a:solidFill>
              </a:rPr>
              <a:t>↓  Median-Schnitt: 5,88 %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980000"/>
            <a:ext cx="5698817" cy="1080000"/>
          </a:xfrm>
          <a:prstGeom prst="rect">
            <a:avLst/>
          </a:prstGeom>
          <a:solidFill>
            <a:srgbClr val="375E2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916</a:t>
            </a:r>
          </a:p>
          <a:p>
            <a:pPr algn="ctr"/>
            <a:r>
              <a:rPr sz="1600">
                <a:solidFill>
                  <a:srgbClr val="FFFFFF"/>
                </a:solidFill>
              </a:rPr>
              <a:t>wenige Probleme  ·  50,3 %</a:t>
            </a:r>
          </a:p>
        </p:txBody>
      </p:sp>
      <p:sp>
        <p:nvSpPr>
          <p:cNvPr id="8" name="Rectangle 7"/>
          <p:cNvSpPr/>
          <p:nvPr/>
        </p:nvSpPr>
        <p:spPr>
          <a:xfrm>
            <a:off x="6130817" y="1980000"/>
            <a:ext cx="5630383" cy="1080000"/>
          </a:xfrm>
          <a:prstGeom prst="rect">
            <a:avLst/>
          </a:prstGeom>
          <a:solidFill>
            <a:srgbClr val="A52A2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905</a:t>
            </a:r>
          </a:p>
          <a:p>
            <a:pPr algn="ctr"/>
            <a:r>
              <a:rPr sz="1600">
                <a:solidFill>
                  <a:srgbClr val="FFFFFF"/>
                </a:solidFill>
              </a:rPr>
              <a:t>viele Probleme  ·  49,7 %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276000"/>
            <a:ext cx="113292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Median statt Mittelwert oder fester Wert (z. B. 80 %): robuster gegenüber Ausreißern — teilt Häuser automatisch in zwei etwa gleich große Gruppen, unabhängig davon, wie schief die Quote insgesamt verteilt ist.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1.821 Häuser insgesamt — 3 weniger als die 1.824 Häuser mit QI-Daten, da diese keine einzige bewertbare Indikator-Zeile haben (alle Codes sind N*).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2.3   Die Merkmale: Herkunft &amp; gefundene Fehler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2 — Exploration und Datenaufbereitung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080000"/>
            <a:ext cx="113292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555555"/>
                </a:solidFill>
              </a:rPr>
              <a:t>Acht Merkmale aus sechs verschiedenen Dateien — zwei brauchten dabei eine Fehlerbehebung: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332000"/>
            <a:ext cx="2160000" cy="396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44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97D"/>
                </a:solidFill>
              </a:rPr>
              <a:t>SO.csv</a:t>
            </a:r>
          </a:p>
          <a:p>
            <a:pPr algn="ctr">
              <a:spcAft>
                <a:spcPts val="800"/>
              </a:spcAft>
            </a:pPr>
            <a:r>
              <a:rPr sz="1300" i="1">
                <a:solidFill>
                  <a:srgbClr val="555555"/>
                </a:solidFill>
              </a:rPr>
              <a:t>Betten · Bundesland · Uni-Status · Trägerart</a:t>
            </a:r>
          </a:p>
          <a:p>
            <a:pPr algn="ctr"/>
            <a:r>
              <a:rPr sz="1350">
                <a:solidFill>
                  <a:srgbClr val="212529"/>
                </a:solidFill>
              </a:rPr>
              <a:t>Direkt aus den Stammdaten, ein Join.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00000" y="1332000"/>
            <a:ext cx="2160000" cy="396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BF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44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BF5A00"/>
                </a:solidFill>
              </a:rPr>
              <a:t>Fortbildungsquote</a:t>
            </a:r>
          </a:p>
          <a:p>
            <a:pPr algn="ctr">
              <a:spcAft>
                <a:spcPts val="800"/>
              </a:spcAft>
            </a:pPr>
            <a:r>
              <a:rPr sz="1300" i="1">
                <a:solidFill>
                  <a:srgbClr val="555555"/>
                </a:solidFill>
              </a:rPr>
              <a:t>QS.Fortbildung.csv</a:t>
            </a:r>
          </a:p>
          <a:p>
            <a:pPr algn="ctr"/>
            <a:r>
              <a:rPr sz="1350">
                <a:solidFill>
                  <a:srgbClr val="212529"/>
                </a:solidFill>
              </a:rPr>
              <a:t>Erbrachte ÷ Pflichtige — Ø 59,95 %, Median 66,67 %.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68000" y="1332000"/>
            <a:ext cx="2160000" cy="396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375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44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375E23"/>
                </a:solidFill>
              </a:rPr>
              <a:t>Ärzte pro Bett</a:t>
            </a:r>
          </a:p>
          <a:p>
            <a:pPr algn="ctr">
              <a:spcAft>
                <a:spcPts val="800"/>
              </a:spcAft>
            </a:pPr>
            <a:r>
              <a:rPr sz="1300" i="1">
                <a:solidFill>
                  <a:srgbClr val="555555"/>
                </a:solidFill>
              </a:rPr>
              <a:t>FA.Personalliste.csv × FA.csv</a:t>
            </a:r>
          </a:p>
          <a:p>
            <a:pPr algn="ctr"/>
            <a:r>
              <a:rPr sz="1350">
                <a:solidFill>
                  <a:srgbClr val="212529"/>
                </a:solidFill>
              </a:rPr>
              <a:t>Zwei Joins nötig. Ø 0,451 — wird später mit 72,8 % das wichtigste Merkmal.</a:t>
            </a:r>
          </a:p>
          <a:p>
            <a:pPr algn="ctr">
              <a:spcBef>
                <a:spcPts val="1000"/>
              </a:spcBef>
            </a:pPr>
            <a:r>
              <a:rPr sz="1250" i="1" b="1">
                <a:solidFill>
                  <a:srgbClr val="A52A2A"/>
                </a:solidFill>
              </a:rPr>
              <a:t>⚠ Fehler behoben: Komma-Format „13,47“ vor Summenbildung konvertiert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6000" y="1332000"/>
            <a:ext cx="2160000" cy="396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44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F497D"/>
                </a:solidFill>
              </a:rPr>
              <a:t>Pflegekräfte pro Bett</a:t>
            </a:r>
          </a:p>
          <a:p>
            <a:pPr algn="ctr">
              <a:spcAft>
                <a:spcPts val="800"/>
              </a:spcAft>
            </a:pPr>
            <a:r>
              <a:rPr sz="1300" i="1">
                <a:solidFill>
                  <a:srgbClr val="555555"/>
                </a:solidFill>
              </a:rPr>
              <a:t>SO.Personalliste.csv</a:t>
            </a:r>
          </a:p>
          <a:p>
            <a:pPr algn="ctr"/>
            <a:r>
              <a:rPr sz="1350">
                <a:solidFill>
                  <a:srgbClr val="212529"/>
                </a:solidFill>
              </a:rPr>
              <a:t>Direkt über SO.QBID. Ø 0,900 — bewusst statt AQ.Pflege.csv (nur Qualifikationen, keine Anzahlen).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4000" y="1332000"/>
            <a:ext cx="2160000" cy="396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5875">
            <a:solidFill>
              <a:srgbClr val="BF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rIns="108000" tIns="144000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BF5A00"/>
                </a:solidFill>
              </a:rPr>
              <a:t>Konzernzugehörigkeit</a:t>
            </a:r>
          </a:p>
          <a:p>
            <a:pPr algn="ctr">
              <a:spcAft>
                <a:spcPts val="800"/>
              </a:spcAft>
            </a:pPr>
            <a:r>
              <a:rPr sz="1300" i="1">
                <a:solidFill>
                  <a:srgbClr val="555555"/>
                </a:solidFill>
              </a:rPr>
              <a:t>Konzern.csv</a:t>
            </a:r>
          </a:p>
          <a:p>
            <a:pPr algn="ctr"/>
            <a:r>
              <a:rPr sz="1350">
                <a:solidFill>
                  <a:srgbClr val="212529"/>
                </a:solidFill>
              </a:rPr>
              <a:t>358 von 1.821 Häusern (19,7 %) sind Konzernhäuser.</a:t>
            </a:r>
          </a:p>
          <a:p>
            <a:pPr algn="ctr">
              <a:spcBef>
                <a:spcPts val="1000"/>
              </a:spcBef>
            </a:pPr>
            <a:r>
              <a:rPr sz="1250" i="1" b="1">
                <a:solidFill>
                  <a:srgbClr val="A52A2A"/>
                </a:solidFill>
              </a:rPr>
              <a:t>⚠ Fehler behoben: Schlüssel ist SO.Standortnummer, nicht SO.QBID — 0 Treffer beim ersten Versuch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5436000"/>
            <a:ext cx="11329200" cy="7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A52A2A"/>
                </a:solidFill>
              </a:rPr>
              <a:t>•  ⚠  Ein dritter Fehler betraf die Ziel-Variable selbst: QSQI.AEKey wurde zunächst fälschlich als Indikator-Schlüssel verwendet — hätte pro Haus nur 1 statt ~43 Zeilen übrig gelassen (siehe Filterkaskade, Kapitel 2.2).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2.5   Die fertige Analysetabelle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2 — Exploration und Datenaufbereitung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368000"/>
            <a:ext cx="3657600" cy="144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497D"/>
                </a:solidFill>
              </a:rPr>
              <a:t>1.821 × 18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Zeilen × Spalten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9600" y="1368000"/>
            <a:ext cx="3657600" cy="144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375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375E23"/>
                </a:solidFill>
              </a:rPr>
              <a:t>14 von 18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Spalten ohne
fehlende Werte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200" y="1368000"/>
            <a:ext cx="3657600" cy="1440000"/>
          </a:xfrm>
          <a:prstGeom prst="roundRect">
            <a:avLst/>
          </a:prstGeom>
          <a:solidFill>
            <a:srgbClr val="FCF0DF"/>
          </a:solidFill>
          <a:ln w="25400">
            <a:solidFill>
              <a:srgbClr val="BF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/>
          <a:lstStyle/>
          <a:p>
            <a:pPr algn="ctr">
              <a:spcAft>
                <a:spcPts val="700"/>
              </a:spcAft>
            </a:pPr>
            <a:r>
              <a:rPr sz="1600" b="1">
                <a:solidFill>
                  <a:srgbClr val="BF5A00"/>
                </a:solidFill>
              </a:rPr>
              <a:t>4 Spalten mit fehlenden Werten</a:t>
            </a:r>
          </a:p>
          <a:p>
            <a:pPr algn="ctr">
              <a:spcAft>
                <a:spcPts val="300"/>
              </a:spcAft>
            </a:pPr>
            <a:r>
              <a:rPr sz="1400">
                <a:solidFill>
                  <a:srgbClr val="212529"/>
                </a:solidFill>
              </a:rPr>
              <a:t>fortbildungsquote: </a:t>
            </a:r>
            <a:r>
              <a:rPr sz="1400" b="1">
                <a:solidFill>
                  <a:srgbClr val="BF5A00"/>
                </a:solidFill>
              </a:rPr>
              <a:t>33</a:t>
            </a:r>
          </a:p>
          <a:p>
            <a:pPr algn="ctr">
              <a:spcAft>
                <a:spcPts val="300"/>
              </a:spcAft>
            </a:pPr>
            <a:r>
              <a:rPr sz="1400">
                <a:solidFill>
                  <a:srgbClr val="212529"/>
                </a:solidFill>
              </a:rPr>
              <a:t>KH.Träger.Art: </a:t>
            </a:r>
            <a:r>
              <a:rPr sz="1400" b="1">
                <a:solidFill>
                  <a:srgbClr val="BF5A00"/>
                </a:solidFill>
              </a:rPr>
              <a:t>28</a:t>
            </a:r>
          </a:p>
          <a:p>
            <a:pPr algn="ctr">
              <a:spcAft>
                <a:spcPts val="300"/>
              </a:spcAft>
            </a:pPr>
            <a:r>
              <a:rPr sz="1400">
                <a:solidFill>
                  <a:srgbClr val="212529"/>
                </a:solidFill>
              </a:rPr>
              <a:t>aerzte_pro_bett: </a:t>
            </a:r>
            <a:r>
              <a:rPr sz="1400" b="1">
                <a:solidFill>
                  <a:srgbClr val="BF5A00"/>
                </a:solidFill>
              </a:rPr>
              <a:t>5</a:t>
            </a:r>
          </a:p>
          <a:p>
            <a:pPr algn="ctr">
              <a:spcAft>
                <a:spcPts val="300"/>
              </a:spcAft>
            </a:pPr>
            <a:r>
              <a:rPr sz="1400">
                <a:solidFill>
                  <a:srgbClr val="212529"/>
                </a:solidFill>
              </a:rPr>
              <a:t>pflege_pro_bett: </a:t>
            </a:r>
            <a:r>
              <a:rPr sz="1400" b="1">
                <a:solidFill>
                  <a:srgbClr val="BF5A00"/>
                </a:solidFill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060000"/>
            <a:ext cx="11329200" cy="151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Left Join über SO.QBID, ausgehend von der Ziel-Variable — kein Haus geht wegen fehlender Merkmale verloren.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Bettenzahl stark rechtsschief verteilt (Mittelwert 268, Median 190, Max. 3.011).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92 Uni-Kliniken (5,1 %), 358 Konzernhäuser (19,7 %) — unabhängiger Kontroll-Durchlauf bestätigt alle Werte.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4680000"/>
            <a:ext cx="11329200" cy="1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BF5A00"/>
                </a:solidFill>
              </a:rPr>
              <a:t>2.6   Bewusst nicht eingebundene Dateien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QS.csv — vermutete Brückentabelle, tatsächlich unnötig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AQ.Pflege.csv — nur Qualifikationen, keine Anzahlen; ersetzt durch SO.Personalliste.csv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12529"/>
                </a:solidFill>
              </a:rPr>
              <a:t>•  QS.Leistungsbereich.csv, Notfallversorgung.csv, MM.csv — separat geprüft, zwei davon mit stärkerem Signal als jedes bisherige Merkmal, aber noch nicht übernommen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3.1   Grafik 1 — Verteilung der auffällig-Quote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pic>
        <p:nvPicPr>
          <p:cNvPr id="5" name="Picture 4" descr="g1_auffaellig_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64101"/>
            <a:ext cx="7560000" cy="44137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52000" y="2133000"/>
            <a:ext cx="3409200" cy="97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/>
          <a:lstStyle/>
          <a:p>
            <a:pPr algn="ctr"/>
            <a:r>
              <a:rPr sz="1200">
                <a:solidFill>
                  <a:srgbClr val="212529"/>
                </a:solidFill>
              </a:rPr>
              <a:t>Datenbasis: 1.821 Häuser (916 wenige, 905 viele Probleme). Grün = wenige, Rot = viele Probleme.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2000" y="3285000"/>
            <a:ext cx="3409200" cy="97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/>
          <a:lstStyle/>
          <a:p>
            <a:pPr algn="ctr"/>
            <a:r>
              <a:rPr sz="1200">
                <a:solidFill>
                  <a:srgbClr val="212529"/>
                </a:solidFill>
              </a:rPr>
              <a:t>X-Achse: Anteil auffälliger Indikatoren. Y-Achse: Anzahl Häuser (30 Balken). Graue Linie = Median.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52000" y="4437000"/>
            <a:ext cx="3409200" cy="972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19050">
            <a:solidFill>
              <a:srgbClr val="BF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/>
          <a:lstStyle/>
          <a:p>
            <a:pPr algn="ctr"/>
            <a:r>
              <a:rPr sz="1200">
                <a:solidFill>
                  <a:srgbClr val="212529"/>
                </a:solidFill>
              </a:rPr>
              <a:t>Rechtsschief verteilt: 75 % der Häuser liegen bei höchstens 11 % (28 % davon exakt 0 %). Spitze bei 100 % (8 Häuser, nur 2 Indikatoren) — Zufallseffekt, kein Signal.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3.1   Grafik 2 — Bettenzahl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pic>
        <p:nvPicPr>
          <p:cNvPr id="5" name="Picture 4" descr="g2_bettenzahl_nebeneina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770" y="1080000"/>
            <a:ext cx="9351660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432000" y="4896000"/>
            <a:ext cx="5574600" cy="1224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pPr algn="ctr"/>
            <a:r>
              <a:rPr sz="1500">
                <a:solidFill>
                  <a:srgbClr val="212529"/>
                </a:solidFill>
              </a:rPr>
              <a:t>Links: Histogramm aller Häuser (bei 1.500 gekappt). Rechts: Boxplot je Gruppe (Box = mittlere 50 %, Strich = Median).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6600" y="4896000"/>
            <a:ext cx="5574600" cy="1224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9050">
            <a:solidFill>
              <a:srgbClr val="BF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pPr algn="ctr"/>
            <a:r>
              <a:rPr sz="1500">
                <a:solidFill>
                  <a:srgbClr val="212529"/>
                </a:solidFill>
              </a:rPr>
              <a:t>Median 166 vs. 220 Betten — signifikant (T-Test p&lt;0,0001), aber Korrelation schwach (r=+0,14): Wertebereiche überlappen stark.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3.1   Grafik 3 — Trägerschaft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pic>
        <p:nvPicPr>
          <p:cNvPr id="5" name="Picture 4" descr="g3_traegersch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274" y="1080000"/>
            <a:ext cx="5432651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Pro Trägerart zwei Balken (grün/rot), die sich zu 100 % addieren — gezeigt wird die interne Aufteilung je Trägerart.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Privat 43,8 % · freigemeinnützig 50,6 % · öffentlich 53,5 % haben viele Probleme.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555555"/>
                </a:solidFill>
              </a:rPr>
              <a:t>•  Optisch der auffälligste Unterschied — die ANOVA in Abschnitt 3.4 prüft, ob er auch statistisch abgesichert ist.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3.1   Grafik 4 — Uni-Kliniken vs. normale Häuser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pic>
        <p:nvPicPr>
          <p:cNvPr id="5" name="Picture 4" descr="g4_u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50" y="1080000"/>
            <a:ext cx="5082100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Ein Balken pro Gruppe — Höhe = Anteil der Häuser dieser Gruppe mit vielen Problemen.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Uni-Kliniken 68,5 % vs. normale Häuser 48,7 % — ein deutlicher Unterschied.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555555"/>
                </a:solidFill>
              </a:rPr>
              <a:t>•  Mögliche Erklärung: Uni-Kliniken behandeln komplexere Fälle, was mehr bzw. andere Indikatoren auslösen kann. Nur 92 Uni-Kliniken — mit Vorsicht zu lesen.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3.1   Grafik 5+6 — Ärzte pro Bett &amp; Pflegekräfte pro Bett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pic>
        <p:nvPicPr>
          <p:cNvPr id="5" name="Picture 4" descr="g5_6_aerzte_pfle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135" y="1080000"/>
            <a:ext cx="8368930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Zwei eigenständige Boxplots mit je eigener Y-Achse — entscheidend ist die Verschiebung zwischen grüner und roter Box, nicht die Antennenlänge.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Ärzte pro Bett: 0,382 (wenige) vs. 0,470 (viele) — sichtbare Verschiebung, die sich im T-Test bestätigt (Abschnitt 3.4).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Pflegekräfte pro Bett: 0,891 (wenige) vs. 1,047 (viele) — dasselbe Muster, beide Merkmale korrelieren zudem stark untereinander (Grafik 8).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3.1   Grafik 7 — Bundesland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pic>
        <p:nvPicPr>
          <p:cNvPr id="5" name="Picture 4" descr="g7_bundesland_kachelkar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917" y="1080000"/>
            <a:ext cx="2583365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Eine Kachel je Bundesland (schematische Anordnung, keine echten Geodaten), eingefärbt nach Anteil „viele Probleme“ — grün = niedrig, rot = hoch, mit n = Anzahl Häuser je Bundesland.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Rheinland-Pfalz (64,0 %) und Sachsen-Anhalt (61,8 %) höchster Anteil, Thüringen (36,0 %) und Baden-Württemberg (37,3 %) niedrigster.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555555"/>
                </a:solidFill>
              </a:rPr>
              <a:t>•  Kleine Bundesländer (z. B. Bremen, n=14) mit Vorsicht lesen — ein einzelnes Haus kann den Landeswert stark verschieben.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3.1   Grafik 9 — Konzernvergleich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pic>
        <p:nvPicPr>
          <p:cNvPr id="5" name="Picture 4" descr="g9_konzern_vergle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50" y="1080000"/>
            <a:ext cx="5082100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Ein Balken pro Gruppe, n-Beschriftung = Gruppengröße (unabhängig vs. Konzernhaus).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Konzernhäuser 52,5 % vs. unabhängige Häuser 49,0 % — praktisch kein Unterschied, formal bestätigt durch den Chi²-Test (Abschnitt 3.4).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3.1   Grafik 10 — Fortbildungsquote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pic>
        <p:nvPicPr>
          <p:cNvPr id="5" name="Picture 4" descr="g10_fortbildungsqu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812" y="1080000"/>
            <a:ext cx="5047575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Median in beiden Gruppen identisch (0,667).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Anders als bei Ärzten und Pflegekräften kein erkennbarer Zusammenhang mit Qualitätsproblemen.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3.2   Grafik 8 — Korrelationsmatrix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pic>
        <p:nvPicPr>
          <p:cNvPr id="5" name="Picture 4" descr="g8_k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926" y="1080000"/>
            <a:ext cx="3627347" cy="32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428000"/>
            <a:ext cx="11329200" cy="221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Heatmap: jede Zelle zeigt die Pearson-Korrelation r (−1 bis +1) zwischen Zeilen- und Spalten-Merkmal. Dunkelrot = starker positiver Zusammenhang.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</a:rPr>
              <a:t>total_qi +0,241 · aerzte_pro_bett +0,210 · pflege_pro_bett +0,174 · SO.Betten +0,138 · SO.Uni +0,087 · ist_konzern +0,028 · fortbildungsquote +0,005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aerzte_pro_bett und pflege_pro_bett korrelieren zudem stark untereinander (r=0,577) — ein Hinweis auf Multikollinearität: Beide könnten dieselbe Eigenschaft „Personalausstattung“ messen.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3.3   Kernbefunde auf einen 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188000"/>
          <a:ext cx="113292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/>
                <a:gridCol w="3420000"/>
                <a:gridCol w="5569200"/>
              </a:tblGrid>
              <a:tr h="4600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Merkmal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Zusammenhang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Einordnung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Ärzte pro Bett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positiv, T-Test p&lt;0,0001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stärkster inhaltlicher Einzelbefund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Pflegekräfte pro Bett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positiv, T-Test p&lt;0,0001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ähnlich stark wie Ärzte/Bett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Bettenzahl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positiv, aber schwach (r=+0,14)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statistisch real, praktisch kaum nutzbar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Uni-Status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68,5 % vs. 48,7 %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deutlich, aber kleine Gruppe (n=92)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Trägerschaft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optisch sichtbar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laut ANOVA nicht statistisch abgesichert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Bundesland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regional unterschiedlich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kleine Bundesländer mit Vorsicht lesen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Konzernzugehörigkeit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kein Zusammenhang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Chi²-Test nicht signifikant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Fortbildungsquote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kein Zusammenhang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identische Mediane in beiden Gruppen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3.4   Inferenzstatistik — sind die Unterschiede „echt“?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224000"/>
          <a:ext cx="113292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3240000"/>
                <a:gridCol w="3960000"/>
                <a:gridCol w="2509200"/>
              </a:tblGrid>
              <a:tr h="504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Merkmal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Ergebnis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Signifikant?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T-Test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Ärzte pro Bett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t = −9,13, p &lt; 0,0001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Ja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T-Test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Pflegekräfte pro Bett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t = −7,51, p &lt; 0,0001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Ja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Chi²-Test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Konzern ↔ viele Probleme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χ² = 1,277, p = 0,2585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Nein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ANOVA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Trägerschaft (3 Gruppen)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F = 0,031, p = 0,969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Nein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4031999"/>
            <a:ext cx="113292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Ein sichtbarer Unterschied in einer Grafik ist noch kein Beweis — die Inferenzstatistik prüft, ob er auch bei Zufall so unwahrscheinlich wäre, dass man ihn als real ansehen kann.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Bei der Trägerschaft sind die drei Gruppen-Mittelwerte auf der stetigen Quote praktisch identisch (0,0856 / 0,0857 / 0,0872) — der in Grafik 3 sichtbare Unterschied in den Prozentsätzen lässt sich damit statistisch nicht absichern.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3.5   Pivot-Tabelle: Trägerschaft × Uni-Status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224000"/>
          <a:ext cx="72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620000"/>
                <a:gridCol w="1620000"/>
                <a:gridCol w="1440000"/>
              </a:tblGrid>
              <a:tr h="54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Trägerart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Nicht-Uni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Uni-Klinik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Gesamt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Freigemeinnützig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0,0864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0,0554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0,0857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Privat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0,0860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0,0605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0,0856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Öffentlich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0,0862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0,0957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0,0872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3671999"/>
            <a:ext cx="11329200" cy="21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Kreuztabelle der durchschnittlichen auffällig-Quote nach Trägerart und Uni-Status — prüft, ob der Uni-Effekt aus Grafik 4 innerhalb jeder Trägerart gleich aussieht.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Gemischtes Bild: Bei freigemeinnützigen und privaten Häusern haben Uni-Kliniken eine niedrigere Quote, bei öffentlichen Häusern eine höhere. Der Effekt aus Grafik 4 wird also nicht gleichmäßig von allen drei Trägerarten getragen.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3.6   Gesamtfazit Baustein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529"/>
                </a:solidFill>
              </a:rPr>
              <a:t>•  Mehr Personal pro Bett (Ärzte und Pflegekräfte) hängt statistisch signifikant mit mehr Qualitätsproblemen zusammen — der stärkste inhaltliche Befund der Analyse.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529"/>
                </a:solidFill>
              </a:rPr>
              <a:t>•  Uni-Kliniken zeigen einen deutlichen Unterschied, wenn auch bei kleiner Fallzahl. Der Trägerschafts-Unterschied ist dagegen statistisch nicht abgesichert (ANOVA).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0" i="0">
                <a:solidFill>
                  <a:srgbClr val="212529"/>
                </a:solidFill>
              </a:rPr>
              <a:t>•  ist_konzern und fortbildungsquote zeigen klar keinen Zusammenhang.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1F497D"/>
                </a:solidFill>
              </a:rPr>
              <a:t>„Kein Zusammenhang ist ein valides Ergebnis“ — viele Faktoren, die wirklich zählen könnten (Patientenmix, Dokumentationsqualität), stehen gar nicht im Datensatz.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3 — Deskriptive Analyse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4.1   Warum Decision Tree?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800" b="0" i="0">
                <a:solidFill>
                  <a:srgbClr val="212529"/>
                </a:solidFill>
              </a:rPr>
              <a:t>Supervised Learning: Jedes Haus hat ein bekanntes Label (hat_viele_Probleme = 0/1) — das Modell lernt aus 1.821 beschrifteten Beispielen, um neue Häuser einzuordnen.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F497D"/>
                </a:solidFill>
              </a:rPr>
              <a:t>Fünf Gründe für den Decision Tree: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212529"/>
                </a:solidFill>
              </a:rPr>
              <a:t>•  Interpretierbarkeit — Entscheidungen als nachvollziehbare Wenn-Dann-Regeln, keine „Black Box“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212529"/>
                </a:solidFill>
              </a:rPr>
              <a:t>•  Passend zum Datensatz — ein flacher Baum ist ehrlich darüber, was mit diesen Daten lernbar ist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212529"/>
                </a:solidFill>
              </a:rPr>
              <a:t>•  Keine Vorverarbeitung nötig — anders als SVM oder neuronale Netze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212529"/>
                </a:solidFill>
              </a:rPr>
              <a:t>•  Vollständig bewertbar — Accuracy, Precision, Recall, F1, Feature Importance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212529"/>
                </a:solidFill>
              </a:rPr>
              <a:t>•  Ergänzt durch lineare Regression — liefert mit R² eine zweite, unabhängige Perspektive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500" b="0" i="1">
                <a:solidFill>
                  <a:srgbClr val="555555"/>
                </a:solidFill>
              </a:rPr>
              <a:t>•  Bewusst nicht gewählt: Random Forest und SVM/Neuronales Netz — beide potenziell genauer, aber Black Box statt nachvollziehbarer Regeln.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4 — Machine-Learning-Modell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4.2   Datenaufbereitung fürs 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12529"/>
                </a:solidFill>
              </a:rPr>
              <a:t>Eigene Klasse KrankenhausModell (model/modell_klasse.py) — dieselbe Definition wird beim Training hier UND im Streamlit-Dashboard zum Laden/Vorhersagen genutzt.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4 — Machine-Learning-Modell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2232000"/>
          <a:ext cx="113292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000"/>
                <a:gridCol w="8161200"/>
              </a:tblGrid>
              <a:tr h="3825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Bedeutung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SO.Betten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Krankenhausgröße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SO.Uni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Uni-Klinik (0/1)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fortbildungsquote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Anteil fortgebildeter Ärzte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aerzte_pro_bett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Ärzte-Personalstärke relativ zur Größe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pflege_pro_bett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Pflege-Personalstärke relativ zur Größe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ist_konzern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Teil eines Krankenhauskonzerns (0/1)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traeger_enc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12529"/>
                          </a:solidFill>
                        </a:rPr>
                        <a:t>Trägerart codiert (0=freigemeinnützig, 1=öffentlich, 2=privat)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4.2   Train-Test-Split und Basislinie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4 — Machine-Learning-Modell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296000"/>
            <a:ext cx="3657600" cy="1512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497D"/>
                </a:solidFill>
              </a:rPr>
              <a:t>1.456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Trainingsdaten
(80 %)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9600" y="1296000"/>
            <a:ext cx="3657600" cy="1512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BF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BF5A00"/>
                </a:solidFill>
              </a:rPr>
              <a:t>365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Testdaten
(20 %)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7200" y="1296000"/>
            <a:ext cx="3657600" cy="1512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555555"/>
                </a:solidFill>
              </a:rPr>
              <a:t>50,4 %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Basislinie
(naiver Tipp)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3096000"/>
            <a:ext cx="11329200" cy="2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Stratifizierter Split nach der Ziel-Variable — beide Teile haben dieselbe Klassenverteilung wie der Gesamtdatensatz. random_state=42 für Reproduzierbarkeit.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Basislinie: Würde man blind immer „Wenige Probleme“ tippen, läge man bei 916 von 1.821 Häusern (50,4 %) zufällig richtig — das Modell muss besser sein als dieser blinde Tipp.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4.3   Der Entscheidungsbaum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4 — Machine-Learning-Modell</a:t>
            </a:r>
          </a:p>
        </p:txBody>
      </p:sp>
      <p:pic>
        <p:nvPicPr>
          <p:cNvPr id="5" name="Picture 4" descr="g12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600" y="1080000"/>
            <a:ext cx="8928000" cy="33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536000"/>
            <a:ext cx="11329200" cy="21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max_depth=3 — der Baum darf maximal drei Ebenen tief verzweigen (bis zu 8 Endknoten). Jede Box zeigt die Regel, gini (Reinheit), samples (Anzahl Häuser) und value (Verteilung auf beide Klassen).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Bewusst flach gehalten: Mit jeder weiteren Ebene würde der Baum feinere Details des Trainingsdatensatzes auswendig lernen (Overfitting), ohne auf neuen Daten besser zu werden.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Die oberste Verzweigung nutzt aerzte_pro_bett als Trennmerkmal — passend zur Feature Importance in Abschnitt 4.4.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4.3   Metriken auf den Testdaten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4 — Machine-Learning-Modell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224000"/>
          <a:ext cx="113292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000"/>
                <a:gridCol w="1224000"/>
                <a:gridCol w="8341200"/>
              </a:tblGrid>
              <a:tr h="4500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Metrik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Wert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Interpretation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57,0 %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Anteil korrekt klassifizierter Häuser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Precision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55,2 %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Von den als „viele Probleme“ vorhergesagten Häusern stimmen 55,2 %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70,2 %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Von den echten „viele Probleme“-Häusern werden 70,2 % erkannt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F1-Score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61,8 %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Harmonisches Mittel aus Precision und Recall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Basislinie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50,4 %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Naiver Klassifikator: immer die Mehrheitsklasse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4140000"/>
            <a:ext cx="11329200" cy="1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+6,6 Prozentpunkte über Basislinie — Recall (70,2 %) liegt deutlich über Precision (55,2 %): Das Modell ist „großzügig“, es sagt eher „Viele Probleme“ und findet so die meisten echten Problemfälle, mit relativ vielen falschen Alarmen.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5-Fold Cross-Validation: 61,6 % ± 3,7 % — geringe Schwankung bestätigt, dass das Ergebnis nicht von einer günstigen Zufallsaufteilung abhängt.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4.3  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4 — Machine-Learning-Modell</a:t>
            </a:r>
          </a:p>
        </p:txBody>
      </p:sp>
      <p:pic>
        <p:nvPicPr>
          <p:cNvPr id="5" name="Picture 4" descr="g11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800" y="1080000"/>
            <a:ext cx="4017600" cy="33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536000"/>
            <a:ext cx="11329200" cy="21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Auf 365 Testhäusern: TN = 81 (korrekt „wenige“) · FP = 103 (falscher Alarm) · FN = 54 (verpasster Fall) · TP = 127 (korrekt „viele“).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Der niedrige FN-Wert spiegelt den hohen Recall wider — die meisten echten Problemhäuser werden erkannt.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Der vergleichsweise hohe FP-Wert spiegelt die niedrigere Precision wider — dafür gibt es relativ viele falsche Alarme.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4.4  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4 — Machine-Learning-Modell</a:t>
            </a:r>
          </a:p>
        </p:txBody>
      </p:sp>
      <p:pic>
        <p:nvPicPr>
          <p:cNvPr id="5" name="Picture 4" descr="g1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100" y="1080000"/>
            <a:ext cx="5859000" cy="334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536000"/>
            <a:ext cx="11329200" cy="210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aerzte_pro_bett 72,77 % · SO.Betten 16,48 % · pflege_pro_bett 10,75 % — alle übrigen Merkmale bei max_depth=3 mit 0,00 % ungenutzt.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aerzte_pro_bett ist mit großem Abstand das wichtigste Merkmal — bestätigt den stärksten Einzelbefund aus Kapitel 3 (T-Test p&lt;0,0001).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traeger_enc trägt 0 % bei — passend dazu findet die ANOVA aus Kapitel 3 für die Trägerschaft keinen signifikanten Zusammenhang (F=0,031, p=0,969). Zwei unabhängige Methoden kommen zum selben Schluss.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4.5   R²-Metrik: Lineare Regression zum Vergleich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212529"/>
                </a:solidFill>
              </a:rPr>
              <a:t>Parallel zum Decision Tree trainiert auf denselben sieben Features — R² gibt an, wie viel Prozent der Unterschiede zwischen den Häusern erklärt werden.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4 — Machine-Learning-Modell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2088000"/>
          <a:ext cx="720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2160000"/>
              </a:tblGrid>
              <a:tr h="540000"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Ziel-Variable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700">
                          <a:solidFill>
                            <a:srgbClr val="FFFFFF"/>
                          </a:solidFill>
                        </a:rPr>
                        <a:t>R²-Wert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hat_viele_Probleme (0/1)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0,024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auffaellig_quote (0–1, stetig)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212529"/>
                          </a:solidFill>
                        </a:rPr>
                        <a:t>−0,007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3816000"/>
            <a:ext cx="11329200" cy="2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A52A2A"/>
                </a:solidFill>
              </a:rPr>
              <a:t>R² = −0,007: Die lineare Regression auf der stetigen Auffälligkeitsquote ist schlechter als der einfachste denkbare Vergleichswert — einfach für jedes Haus den Durchschnittswert aller Häuser vorherzusagen.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12529"/>
                </a:solidFill>
              </a:rPr>
              <a:t>•  Ein negatives R² ist möglich (anders als Accuracy gibt es hier keine Untergrenze bei 0) und bedeutet: Die sieben Strukturmerkmale liefern in einem linearen Modell keinen brauchbaren Erklärungsbeitrag für die Höhe der Auffälligkeitsquote.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0" i="1">
                <a:solidFill>
                  <a:srgbClr val="1F497D"/>
                </a:solidFill>
              </a:rPr>
              <a:t>„Kein Zusammenhang ist ein valides Ergebnis“ — die Ursachen für eine hohe oder niedrige Auffälligkeitsquote liegen offenbar überwiegend außerhalb der hier erfassten Strukturmerkmale.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4.6   Modell speichern und Beispielvorhersage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0" i="0">
                <a:solidFill>
                  <a:srgbClr val="212529"/>
                </a:solidFill>
              </a:rPr>
              <a:t>Speicherung: joblib.dump() als Data/modell_krankenhaus.pkl — effizienter als pickle für NumPy-Arrays und sklearn-Objekte.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212529"/>
                </a:solidFill>
              </a:rPr>
              <a:t>•  Beispiel-Krankenhaus: 300 Betten, keine Uni-Anbindung, 80 % Fortbildungsquote, 0,4 Ärzte/Bett, 1,0 Pflegekräfte/Bett, kein Konzern, privat getragen.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4 — Machine-Learning-Modell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3060000"/>
            <a:ext cx="3657600" cy="162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A5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A52A2A"/>
                </a:solidFill>
              </a:rPr>
              <a:t>60,09 %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Wahrscheinlichkeit
„Viele Probleme“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9600" y="3060000"/>
            <a:ext cx="3657600" cy="16200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375E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375E23"/>
                </a:solidFill>
              </a:rPr>
              <a:t>39,91 %</a:t>
            </a:r>
          </a:p>
          <a:p>
            <a:pPr algn="ctr"/>
            <a:r>
              <a:rPr sz="1400">
                <a:solidFill>
                  <a:srgbClr val="555555"/>
                </a:solidFill>
              </a:rPr>
              <a:t>Wahrscheinlichkeit
„Wenige Probleme“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7200" y="3060000"/>
            <a:ext cx="3657600" cy="1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555555"/>
                </a:solidFill>
              </a:rPr>
              <a:t>Grundlage für die Einzelvorhersage im Streamlit-Dashboard.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4.7   Gesamtfazit Baustein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529"/>
                </a:solidFill>
              </a:rPr>
              <a:t>•  Der Baum übertrifft die Basislinie nur knapp (57,0 % vs. 50,4 %) — besser als zufälliges Raten, aber weit von einer zuverlässigen Vorhersage entfernt.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529"/>
                </a:solidFill>
              </a:rPr>
              <a:t>•  aerzte_pro_bett ist mit großem Abstand das wichtigste Merkmal (72,8 %) — konsistent mit dem T-Test aus Kapitel 3.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529"/>
                </a:solidFill>
              </a:rPr>
              <a:t>•  Trägerschaft spielt weder im Baum noch in der ANOVA aus Kapitel 3 eine Rolle — zwei unabhängige Methoden kommen zum selben Schluss.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212529"/>
                </a:solidFill>
              </a:rPr>
              <a:t>•  Negatives R² ist das zentrale Ergebnis: Krankenhausstruktur allein kann die Höhe der Auffälligkeitsquote linear nicht vorhersagen.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0" i="1">
                <a:solidFill>
                  <a:srgbClr val="1F497D"/>
                </a:solidFill>
              </a:rPr>
              <a:t>Das Modell ist einsatzbereit — Data/modell_krankenhaus.pkl wird direkt vom Streamlit-Dashboard für Live-Einzelvorhersagen geladen.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4 — Machine-Learning-Modell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5.1   Aufbau und Technologie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0" i="0">
                <a:solidFill>
                  <a:srgbClr val="212529"/>
                </a:solidFill>
              </a:rPr>
              <a:t>Streamlit-App (Dashboard/streamlit_dashboard.py) mit Plotly für alle Grafiken, live auf Streamlit Cloud deployt. Datengrundlage: Data/analysetabelle.csv, Modell: Data/modell_krankenhaus.pkl (Kapitel 4).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F497D"/>
                </a:solidFill>
              </a:rPr>
              <a:t>Drei Dateien, klar getrennte Verantwortung: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212529"/>
                </a:solidFill>
              </a:rPr>
              <a:t>•  streamlit_dashboard.py — UI-Layout, Widgets, Seitenaufbau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0" i="0">
                <a:solidFill>
                  <a:srgbClr val="212529"/>
                </a:solidFill>
              </a:rPr>
              <a:t>•  dashboard_utils.py — Datenlogik, Berechnungen, Plot-Erstellung (kein Streamlit-Code, eigenständig testbar)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600" b="0" i="0">
                <a:solidFill>
                  <a:srgbClr val="212529"/>
                </a:solidFill>
              </a:rPr>
              <a:t>•  model/modell_klasse.py — KrankenhausModell-Klasse, identisch genutzt beim Training (Kapitel 4) und beim Laden im Dashboard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600" b="0" i="1">
                <a:solidFill>
                  <a:srgbClr val="555555"/>
                </a:solidFill>
              </a:rPr>
              <a:t>•  Navigation über echte Streamlit-Buttons + st.query_params statt HTML-Links — Streamlit erzwingt bei &lt;a href&gt;-Links target="_blank", mit Buttons öffnet sich nie ein neuer Tab, die URL hält trotzdem den Seitenstand beim Reload.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5 — Dashboard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5.2   Seite 1 — Gesamtüberblick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5 — Dashboard</a:t>
            </a:r>
          </a:p>
        </p:txBody>
      </p:sp>
      <p:pic>
        <p:nvPicPr>
          <p:cNvPr id="5" name="Picture 4" descr="gesamtuberbl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420" y="1080000"/>
            <a:ext cx="4132359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Drei Filter direkt auf der Seite (Bundesland, Trägerschaft, Klinik-Typ) + „Zurücksetzen“-Button, plus KPI-Tabelle, Deutschland-Karte und Histogramm.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Zwei unterschiedliche Durchschnittswerte: Ø auffällig-Quote pro Haus (hausgewichtet, 8,6 %) vs. Gesamtquote (indikatorgewichtet, 7,7 %) — beide korrekt, nur unterschiedlich gewichtet (siehe Kapitel 3, Exkurs).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5.3   Seite 2 — Einflussfaktoren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5 — Dashboard</a:t>
            </a:r>
          </a:p>
        </p:txBody>
      </p:sp>
      <p:pic>
        <p:nvPicPr>
          <p:cNvPr id="5" name="Picture 4" descr="einflussfaktor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760" y="1080000"/>
            <a:ext cx="4177680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Vier Tabs, immer auf dem vollständigen, ungefilterten Datensatz: Trägerschaft (ANOVA p=0,969, nicht signifikant) · Ärzte pro Bett (T-Test, Feature Importance 72,8 %) · Streudiagramm mit wählbarem Merkmal · Pivot-Tabelle Träger × Uni-Status.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Streudiagramm-Dropdown mit lesbaren Labels statt technischer Spaltennamen, Erklärungstext wechselt automatisch je gewähltem Merkmal.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5.4   Seite 3 — Häuser vergleichen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5 — Dashboard</a:t>
            </a:r>
          </a:p>
        </p:txBody>
      </p:sp>
      <p:pic>
        <p:nvPicPr>
          <p:cNvPr id="5" name="Picture 4" descr="haeuser_vergleich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040" y="1080000"/>
            <a:ext cx="4227120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Ähnliche Häuser suchen: Bettenzahl-Toleranz ±10/20/30(Standard)/50 %, optional nach Bundesland/Trägerschaft filterbar — Ergebnis als Ø-Quote mit Abstand zum Median.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Einzelhaus-Steckbrief: 8 Kennzahlen-Karten je Haus, ebenfalls mit Abstandswert zum Median statt Pfeil-Symbol.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5.5   Seite 4 — Qualitäts-Vorhersage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5 — Dashboard</a:t>
            </a:r>
          </a:p>
        </p:txBody>
      </p:sp>
      <p:pic>
        <p:nvPicPr>
          <p:cNvPr id="5" name="Picture 4" descr="qualitaets_vorher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640" y="1080000"/>
            <a:ext cx="4185920" cy="37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896000"/>
            <a:ext cx="11329200" cy="174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Warnbox zu Beginn nennt Accuracy (57,0 %) und Basislinie (50,4 %) explizit — Modellgrenzen sind vor der Eingabe sichtbar, nicht erst danach.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12529"/>
                </a:solidFill>
              </a:rPr>
              <a:t>•  Eingabeformular mit den 7 Trainings-Merkmalen aus Kapitel 4.2 → Vorhersage-Kasten (grün/rot) mit Wahrscheinlichkeit je Klasse und Feature-Importance-Diagramm.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6.1   Gesamteinschätzung: Was haben wir gefunden?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6 — Fazit, Grenzen und Ausblick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224000"/>
          <a:ext cx="113292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2340000"/>
                <a:gridCol w="6109200"/>
              </a:tblGrid>
              <a:tr h="488571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Merkmal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Zusammenhang?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Einordnung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Ärzte / Pflegekräfte pro Bett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✅ Vorhanden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Statistisch signifikant, stärkster Prädiktor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Uni-Status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🔶 Sichtbar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Deutlich, aber kleine Stichprobe (n=92)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Trägerschaft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❌ Nicht abgesichert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Optisch sichtbar, ANOVA nicht signifikant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Bundesland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🔶 Sichtbar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Kleine Stichproben einschränkend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88571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Bettenzahl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🔶 Schwach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r = +0,14, real, praktisch kaum nutzbar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8574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Konzernhaus / Fortbildungsquote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❌ Kein Zusammenhang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12529"/>
                          </a:solidFill>
                        </a:rPr>
                        <a:t>Chi²/Korrelation nicht signifikant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32000" y="4860000"/>
            <a:ext cx="11329200" cy="1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1F497D"/>
                </a:solidFill>
              </a:rPr>
              <a:t>Kein starker, eindeutiger Zusammenhang. Strukturmerkmale allein reichen nicht aus (Decision-Tree-R² = −0,007, Kapitel 4.5). Das ist ein valides Ergebnis.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6.2   Grenzen der 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212529"/>
                </a:solidFill>
              </a:rPr>
              <a:t>•  Patientenmix — Häuser mit schwierigeren, kränkeren Patient:innen fallen öfter auffällig, ohne dass zwingend ein echtes Qualitätsproblem vorliegt. Der Datensatz enthält keine Fallschwere-Information, um dafür zu kontrollieren.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212529"/>
                </a:solidFill>
              </a:rPr>
              <a:t>•  Dokumentation — manche Auffälligkeiten sind nachweislich Dokumentationsfehler, keine echten Versorgungsprobleme (siehe Kapitel 2.2/2.3).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212529"/>
                </a:solidFill>
              </a:rPr>
              <a:t>•  Kausalität — Korrelation ist nicht Kausalität. Alle Zusammenhänge in dieser Analyse sind Assoziationen, kein Ursache-Wirkung-Nachweis.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6 — Fazit, Grenzen und Ausblick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25999"/>
            <a:ext cx="11473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6.3   Ausblick — mögliche nächste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1116000"/>
            <a:ext cx="11329200" cy="531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212529"/>
                </a:solidFill>
              </a:rPr>
              <a:t>•  QS.Leistungsbereich.csv einbeziehen — Dokumentationsrate als zusätzliches Merkmal (bislang bewusst nicht eingebunden, Kapitel 2.6).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900" b="0" i="0">
                <a:solidFill>
                  <a:srgbClr val="212529"/>
                </a:solidFill>
              </a:rPr>
              <a:t>•  Regression mit Patientenstruktur als Kontrollvariable, um den Effekt des Patientenmix von echten Qualitätsunterschieden zu trennen.</a:t>
            </a:r>
          </a:p>
          <a:p>
            <a:pPr>
              <a:spcBef>
                <a:spcPts val="0"/>
              </a:spcBef>
              <a:spcAft>
                <a:spcPts val="2000"/>
              </a:spcAft>
            </a:pPr>
            <a:r>
              <a:rPr sz="1900" b="0" i="0">
                <a:solidFill>
                  <a:srgbClr val="212529"/>
                </a:solidFill>
              </a:rPr>
              <a:t>•  Dashboard und Notebooks sind vollständig reproduzierbar und direkt erweiterbar, ohne die bestehende Struktur umzubauen.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555555"/>
                </a:solidFill>
              </a:rPr>
              <a:t>„Kein Zusammenhang ist ein valides Ergebnis“ — die Trägerschaft galt zunächst als klarster Befund, ist nach der Korrektur der Ziel-Variable aber nicht mehr signifikant. Viele Faktoren, die wirklich zählen könnten, stehen schlicht nicht im Datensatz.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498000"/>
            <a:ext cx="1147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55555"/>
                </a:solidFill>
              </a:rPr>
              <a:t>Kapitel 6 — Fazit, Grenzen und Ausblick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